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554480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168E8"/>
                </a:solidFill>
                <a:latin typeface="Arial"/>
              </a:rPr>
              <a:t>ДГТУ  ·  ВВЕДЕНИЕ В МАШИННОЕ ОБУЧЕНИЕ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0972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5400" b="1">
                <a:solidFill>
                  <a:srgbClr val="102044"/>
                </a:solidFill>
                <a:latin typeface="Arial"/>
              </a:rPr>
              <a:t>Линейная регрессия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33475F"/>
                </a:solidFill>
                <a:latin typeface="Arial"/>
              </a:rPr>
              <a:t>Вторая лекция  ·  первое точное решение, семейство метрик и честный счёт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1 / 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ВОПРОС ПАРЫ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Откуда берутся веса, если формулу можно решить точно?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2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11155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0">
                <a:solidFill>
                  <a:srgbClr val="102044"/>
                </a:solidFill>
                <a:latin typeface="Arial"/>
              </a:rPr>
              <a:t>И какое число после этого можно называть качеством, а не удачной арифметикой на тех же точках?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ОТКУДА СЛОВО  ·  ФРЭНСИС ГАЛЬТОН, 1885–1886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Крайний рост родителей не переходит детям целиком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3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Высокие родители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9" y="1920240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сыновья тоже высокие, но в среднем ниже отцов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42032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Низкие родители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9" y="2670048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сыновья тоже низкие, но в среднем выше отцов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91840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19856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Средние родители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99" y="3419856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сыновья остаются около среднего по популяции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41648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623560"/>
            <a:ext cx="11155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Гальтон назвал это regression towards mediocrity: возврат отклонения к середине. Отсюда имя метода.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ЧТО ИМЕННО ЛЕГЛО НА ПРЯМУЮ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Линия проходит через средние сыновей, и она положе 45°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4 / 34</a:t>
            </a:r>
          </a:p>
        </p:txBody>
      </p:sp>
      <p:pic>
        <p:nvPicPr>
          <p:cNvPr id="6" name="Picture 5" descr="galton-line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83080"/>
            <a:ext cx="58521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0" y="1874520"/>
            <a:ext cx="5303520" cy="566928"/>
          </a:xfrm>
          <a:prstGeom prst="rect">
            <a:avLst/>
          </a:prstGeom>
          <a:solidFill>
            <a:srgbClr val="FFF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874520"/>
            <a:ext cx="73152" cy="56692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947672"/>
            <a:ext cx="4974336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2044"/>
                </a:solidFill>
                <a:latin typeface="Arial"/>
              </a:rPr>
              <a:t>E[y | x] = μ + β(x − 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834640"/>
            <a:ext cx="51206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При близких разбросах β — корреляция. Она меньше 1, если связь не идеальна.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160520"/>
            <a:ext cx="512064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33475F"/>
                </a:solidFill>
                <a:latin typeface="Arial"/>
              </a:rPr>
              <a:t>Мелкая точка — семья. Крупная — средний сын в этой группе. У Гальтона наклон около 2/3.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ЧТО НАЗЫВАЮТ РЕГРЕССИЕЙ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Ответ — число. Модель говорит, каким оно бывает при этих признаках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5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Не класс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9" y="1965960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регрессия не ставит метку «да / нет». Класс — другая задача, даже если в названии есть слово regression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87752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15768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Условный ответ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9" y="2715768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при тех же признаках число всё ещё случайно. Регрессия выбирает, какую сводку писать в прогноз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37560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65576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Сегодняшняя сводка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99" y="3465576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условное среднее, и оно линейно по весам:  E[y | x] = xᵀw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87368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КАКИЕ БЫВАЮТ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Четыре названия. Сегодня разбираем первые два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6 / 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7452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206240"/>
                <a:gridCol w="3931920"/>
              </a:tblGrid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Название</a:t>
                      </a:r>
                    </a:p>
                  </a:txBody>
                  <a:tcPr>
                    <a:solidFill>
                      <a:srgbClr val="116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Своими словами</a:t>
                      </a:r>
                    </a:p>
                  </a:txBody>
                  <a:tcPr>
                    <a:solidFill>
                      <a:srgbClr val="116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Один пример</a:t>
                      </a:r>
                    </a:p>
                  </a:txBody>
                  <a:tcPr>
                    <a:solidFill>
                      <a:srgbClr val="1168E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2044"/>
                          </a:solidFill>
                          <a:latin typeface="Arial"/>
                        </a:rPr>
                        <a:t>Простая линейная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2044"/>
                          </a:solidFill>
                          <a:latin typeface="Arial"/>
                        </a:rPr>
                        <a:t>одно число по одному признаку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2044"/>
                          </a:solidFill>
                          <a:latin typeface="Arial"/>
                        </a:rPr>
                        <a:t>20 + 2×площадь. 40 м² дают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2044"/>
                          </a:solidFill>
                          <a:latin typeface="Arial"/>
                        </a:rPr>
                        <a:t>Множественная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2044"/>
                          </a:solidFill>
                          <a:latin typeface="Arial"/>
                        </a:rPr>
                        <a:t>несколько признаков, одна цена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2044"/>
                          </a:solidFill>
                          <a:latin typeface="Arial"/>
                        </a:rPr>
                        <a:t>20 + 2×площадь + 3×этаж = 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2044"/>
                          </a:solidFill>
                          <a:latin typeface="Arial"/>
                        </a:rPr>
                        <a:t>Полиномиальная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2044"/>
                          </a:solidFill>
                          <a:latin typeface="Arial"/>
                        </a:rPr>
                        <a:t>среди признаков есть квадрат площади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2044"/>
                          </a:solidFill>
                          <a:latin typeface="Arial"/>
                        </a:rPr>
                        <a:t>график гнётся. Считается так же, не сегодня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2044"/>
                          </a:solidFill>
                          <a:latin typeface="Arial"/>
                        </a:rPr>
                        <a:t>Логистическая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2044"/>
                          </a:solidFill>
                          <a:latin typeface="Arial"/>
                        </a:rPr>
                        <a:t>ответ не цена, а «купит / не купит»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2044"/>
                          </a:solidFill>
                          <a:latin typeface="Arial"/>
                        </a:rPr>
                        <a:t>к этой лекции не относится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2044"/>
                </a:solidFill>
                <a:latin typeface="Arial"/>
              </a:rPr>
              <a:t>Первые две строки — эта пара. В обеих на выходе одно число.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Прогноз — взвешенная сумма признаков и сдвиг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7 / 34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11155680" cy="566928"/>
          </a:xfrm>
          <a:prstGeom prst="rect">
            <a:avLst/>
          </a:prstGeom>
          <a:solidFill>
            <a:srgbClr val="FFF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73152" cy="56692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993392"/>
            <a:ext cx="10826496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02044"/>
                </a:solidFill>
                <a:latin typeface="Arial"/>
              </a:rPr>
              <a:t>ŷ  =  w₀ + w₁x₁ + … + w_d x_d  =  wᵀx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52344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wⱼ   вес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9" y="2752344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насколько меняется прогноз при +1 к признаку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74136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502152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w₀   сдвиг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99" y="3502152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прогноз, когда все признаки равны нулю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23944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25196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остаток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599" y="4251960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y − ŷ,  что модель не объяснила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873752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МАТРИЦА ПЛАНА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02044"/>
                </a:solidFill>
                <a:latin typeface="Arial"/>
              </a:rPr>
              <a:t>Столбец единиц делает сдвиг обычным весом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8 / 34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55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73152" cy="566928"/>
          </a:xfrm>
          <a:prstGeom prst="rect">
            <a:avLst/>
          </a:prstGeom>
          <a:solidFill>
            <a:srgbClr val="11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90472"/>
            <a:ext cx="10826496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02044"/>
                </a:solidFill>
                <a:latin typeface="Arial"/>
              </a:rPr>
              <a:t>ŷ = Xw      первый столбец X — единицы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12264"/>
            <a:ext cx="11155680" cy="566928"/>
          </a:xfrm>
          <a:prstGeom prst="rect">
            <a:avLst/>
          </a:prstGeom>
          <a:solidFill>
            <a:srgbClr val="FFF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112264"/>
            <a:ext cx="73152" cy="56692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85416"/>
            <a:ext cx="10826496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02044"/>
                </a:solidFill>
                <a:latin typeface="Arial"/>
              </a:rPr>
              <a:t>[ 1   40   5 ]  ·  [ 20,  2,  3 ]   =   1·20 + 40·2 + 5·3   =   115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98648"/>
            <a:ext cx="111556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33475F"/>
                </a:solidFill>
                <a:latin typeface="Arial"/>
              </a:rPr>
              <a:t>Одна строка — одна квартира: 40 м², 5-й этаж. Единица умножается на сдвиг 20. Без единицы нулевая площадь стоила бы ноль.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КАТЕГОРИЯ КАК СТОЛБЦЫ РЕГРЕССИИ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One-hot ставит одну единицу. One-cold ставит один ноль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9 / 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2880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389120"/>
                <a:gridCol w="4389120"/>
              </a:tblGrid>
              <a:tr h="64008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Район</a:t>
                      </a:r>
                    </a:p>
                  </a:txBody>
                  <a:tcPr>
                    <a:solidFill>
                      <a:srgbClr val="116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one-hot</a:t>
                      </a:r>
                    </a:p>
                  </a:txBody>
                  <a:tcPr>
                    <a:solidFill>
                      <a:srgbClr val="116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one-cold</a:t>
                      </a:r>
                    </a:p>
                  </a:txBody>
                  <a:tcPr>
                    <a:solidFill>
                      <a:srgbClr val="1168E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02044"/>
                          </a:solidFill>
                          <a:latin typeface="Arial"/>
                        </a:rPr>
                        <a:t>Центр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02044"/>
                          </a:solidFill>
                          <a:latin typeface="Arial"/>
                        </a:rPr>
                        <a:t>1   0   0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02044"/>
                          </a:solidFill>
                          <a:latin typeface="Arial"/>
                        </a:rPr>
                        <a:t>0   1   1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02044"/>
                          </a:solidFill>
                          <a:latin typeface="Arial"/>
                        </a:rPr>
                        <a:t>Север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02044"/>
                          </a:solidFill>
                          <a:latin typeface="Arial"/>
                        </a:rPr>
                        <a:t>0   1   0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02044"/>
                          </a:solidFill>
                          <a:latin typeface="Arial"/>
                        </a:rPr>
                        <a:t>1   0   1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02044"/>
                          </a:solidFill>
                          <a:latin typeface="Arial"/>
                        </a:rPr>
                        <a:t>Юг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02044"/>
                          </a:solidFill>
                          <a:latin typeface="Arial"/>
                        </a:rPr>
                        <a:t>0   0   1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02044"/>
                          </a:solidFill>
                          <a:latin typeface="Arial"/>
                        </a:rPr>
                        <a:t>1   1   0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33475F"/>
                </a:solidFill>
                <a:latin typeface="Arial"/>
              </a:rPr>
              <a:t>One-cold — это единица минус one-hot. Коды 1, 2, 3 не являются ни тем ни другим: модель прочитает Юг как втрое больший Центр.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ТЕ ЖЕ ТРИ РАЙОНА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Единица в one-hot стоит там, где в one-cold стоит ноль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10 / 34</a:t>
            </a:r>
          </a:p>
        </p:txBody>
      </p:sp>
      <p:pic>
        <p:nvPicPr>
          <p:cNvPr id="6" name="Picture 5" descr="onehot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783080"/>
            <a:ext cx="92354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ЧТО ЭТО ДЕЛАЕТ С УРАВНЕНИЕМ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Оба кода вместе со сдвигом делают веса неединственными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11 / 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54864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5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29384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One-hot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13432"/>
            <a:ext cx="5120640" cy="17922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02044"/>
                </a:solidFill>
                <a:latin typeface="Arial"/>
              </a:rPr>
              <a:t>Сумма трёх столбцов повторяет столбец единиц. В каждой строке ровно одна единица.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4864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5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929384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One-cold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313432"/>
            <a:ext cx="5120640" cy="17922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02044"/>
                </a:solidFill>
                <a:latin typeface="Arial"/>
              </a:rPr>
              <a:t>В каждой строке две единицы, поэтому сумма столбцов равна двум столбцам единиц.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480560"/>
            <a:ext cx="11155680" cy="640080"/>
          </a:xfrm>
          <a:prstGeom prst="rect">
            <a:avLst/>
          </a:prstGeom>
          <a:solidFill>
            <a:srgbClr val="FFF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480560"/>
            <a:ext cx="73152" cy="640080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789919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2044"/>
                </a:solidFill>
                <a:latin typeface="Arial"/>
              </a:rPr>
              <a:t>Сдвиг оставляют, один район выбрасывают. Его вес — разница с выброшенным районом.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ЛИНЕЙНАЯ РЕГРЕССИЯ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02044"/>
                </a:solidFill>
                <a:latin typeface="Arial"/>
              </a:rPr>
              <a:t>Нормальные уравнения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12 / 34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6675120" cy="566928"/>
          </a:xfrm>
          <a:prstGeom prst="rect">
            <a:avLst/>
          </a:prstGeom>
          <a:solidFill>
            <a:srgbClr val="FFF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73152" cy="56692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44752"/>
            <a:ext cx="6345936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02044"/>
                </a:solidFill>
                <a:latin typeface="Arial"/>
              </a:rPr>
              <a:t>XᵀX w  =  Xᵀy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Что минимизируем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194560"/>
            <a:ext cx="85496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Q(w) = ‖y − Xw‖².  Делить на n место дна не двигает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44368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Градиент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944368"/>
            <a:ext cx="85496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−2Xᵀ(y − Xw). Ноль производной и есть жёлтая формула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566160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694176"/>
            <a:ext cx="2468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Гессиан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694176"/>
            <a:ext cx="85496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2XᵀX. Чаша открыта вверх. Один набор весов, если столбцы не копии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315968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623560"/>
            <a:ext cx="67665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33475F"/>
                </a:solidFill>
                <a:latin typeface="Arial"/>
              </a:rPr>
              <a:t>Для прямой a + bx та же формула: суммы по x слева, суммы по y справа. На доске не решаем.</a:t>
            </a:r>
          </a:p>
        </p:txBody>
      </p:sp>
      <p:pic>
        <p:nvPicPr>
          <p:cNvPr id="19" name="Picture 18" descr="loss-steps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417320"/>
            <a:ext cx="4297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КОГДА ФОРМУЛА МОЛЧИТ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Прогноз может быть единственным, а веса — нет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13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Копия столбца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9" y="2011680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one-hot или one-cold плюс сдвиг. Разные веса дают один и тот же прогноз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33472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61488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Почти копия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9" y="2761488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малый шум в ответах сильно качает веса. Прогноз при этом может почти не сдвинуться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83280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511296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Как считают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99" y="3511296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систему решают через SVD или QR. Обращение XᵀX раздувает неточность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33087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ВЕРОЯТНОСТНОЕ ЧТЕНИЕ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Квадрат — это гауссов шум. Модуль — лапласов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14 / 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54864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5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29384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Нормальные ошибки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13432"/>
            <a:ext cx="5120640" cy="21579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02044"/>
                </a:solidFill>
                <a:latin typeface="Arial"/>
              </a:rPr>
              <a:t>Промахи независимы и похожи на колокол. Самое подходящее место весов — минимум суммы квадратов.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4864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5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929384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Тяжёлые хвосты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313432"/>
            <a:ext cx="5120640" cy="21579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02044"/>
                </a:solidFill>
                <a:latin typeface="Arial"/>
              </a:rPr>
              <a:t>У распределения Лапласа самое подходящее место — минимум суммы модулей. Готовой системы уравнений нет.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11155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02044"/>
                </a:solidFill>
                <a:latin typeface="Arial"/>
              </a:rPr>
              <a:t>Квадрат тянет прямую к далёкой точке. Модуль смотрит скорее на то, где лежит большинство.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КОГДА ВЕСУ МОЖНО ВЕРИТЬ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02044"/>
                </a:solidFill>
                <a:latin typeface="Arial"/>
              </a:rPr>
              <a:t>Четыре условия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15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Среднее на прямой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9" y="1463040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по столбцам из таблицы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84832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12848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Признак не из ошибки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9" y="2212848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иначе вес съезжает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34640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62656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Промахи похожи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99" y="2962656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один размер, не пачками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584448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712463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Столбцы разные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599" y="3712463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иначе вес не произнести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334255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solidFill>
            <a:srgbClr val="FFF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623560"/>
            <a:ext cx="73152" cy="640080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10789919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2044"/>
                </a:solidFill>
                <a:latin typeface="Arial"/>
              </a:rPr>
              <a:t>Нормальный шум не нужен. Причину формула не даёт.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КАК ЧИТАТЬ ОДИН ВЕС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02044"/>
                </a:solidFill>
                <a:latin typeface="Arial"/>
              </a:rPr>
              <a:t>Плюс один к признаку сдвигает прогноз на его вес, если остальные столбцы не трогать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16 / 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20"/>
            <a:ext cx="54864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5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020824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Что фраза значит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04872"/>
            <a:ext cx="5120640" cy="234086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02044"/>
                </a:solidFill>
                <a:latin typeface="Arial"/>
              </a:rPr>
              <a:t>Остальные столбцы зафиксированы. Сдвиг посчитан внутри той записи, которую выбрали.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20"/>
            <a:ext cx="54864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5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2020824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Чего она не значит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404872"/>
            <a:ext cx="5120640" cy="234086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02044"/>
                </a:solidFill>
                <a:latin typeface="Arial"/>
              </a:rPr>
              <a:t>Что признак вызывает ответ. Что вес устойчив, если столбцы ходят вместе. Что после деления на разброс вес всё ещё «рубли за метр».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ДВЕ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Функция потерь ищет веса. Метрика судит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17 / 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54864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5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29384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13432"/>
            <a:ext cx="5120640" cy="188366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02044"/>
                </a:solidFill>
                <a:latin typeface="Arial"/>
              </a:rPr>
              <a:t>Её минимизируют на учебных строках. Квадрат удобен: есть наклон и готовая формула.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4864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5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929384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313432"/>
            <a:ext cx="5120640" cy="188366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02044"/>
                </a:solidFill>
                <a:latin typeface="Arial"/>
              </a:rPr>
              <a:t>Её считают на объектах, которые веса не учили. Она может быть модулем, долей или квантилем.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663440"/>
            <a:ext cx="11155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02044"/>
                </a:solidFill>
                <a:latin typeface="Arial"/>
              </a:rPr>
              <a:t>Учить MSE и сообщать MAE — нормальная пара. Называть их одним числом — нет.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MSE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02044"/>
                </a:solidFill>
                <a:latin typeface="Arial"/>
              </a:rPr>
              <a:t>Квадрат сильно штрафует крупный промах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18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7315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74B94"/>
                </a:solidFill>
                <a:latin typeface="Arial"/>
              </a:rPr>
              <a:t>средняя квадратичная ошибка, mean squared 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6858000" cy="566928"/>
          </a:xfrm>
          <a:prstGeom prst="rect">
            <a:avLst/>
          </a:prstGeom>
          <a:solidFill>
            <a:srgbClr val="FFF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27632"/>
            <a:ext cx="73152" cy="56692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700784"/>
            <a:ext cx="6528816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02044"/>
                </a:solidFill>
                <a:latin typeface="Arial"/>
              </a:rPr>
              <a:t>MSE  =  (1/m) Σ (y − ŷ)²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6858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33475F"/>
                </a:solidFill>
                <a:latin typeface="Arial"/>
              </a:rPr>
              <a:t>Ошибки 1 и 3 входят как 1 и 9. Единицы — квадрат ответа. Лучшая константа — среднее учебных ответов.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6858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2044"/>
                </a:solidFill>
                <a:latin typeface="Arial"/>
              </a:rPr>
              <a:t>На трёх точках: у прямой около 0,06, у «всегда говори 1,67» около 0,22.</a:t>
            </a:r>
          </a:p>
        </p:txBody>
      </p:sp>
      <p:pic>
        <p:nvPicPr>
          <p:cNvPr id="12" name="Picture 11" descr="loss-mse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508760"/>
            <a:ext cx="4114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RMSE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Корень возвращает единицы ответа, но хвост остаётся главным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19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10972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74B94"/>
                </a:solidFill>
                <a:latin typeface="Arial"/>
              </a:rPr>
              <a:t>корень из средней квадратичной ошибки, root mean squared 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11155680" cy="566928"/>
          </a:xfrm>
          <a:prstGeom prst="rect">
            <a:avLst/>
          </a:prstGeom>
          <a:solidFill>
            <a:srgbClr val="FFF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73152" cy="56692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21992"/>
            <a:ext cx="10826496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02044"/>
                </a:solidFill>
                <a:latin typeface="Arial"/>
              </a:rPr>
              <a:t>RMSE  =  √MSE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11155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33475F"/>
                </a:solidFill>
                <a:latin typeface="Arial"/>
              </a:rPr>
              <a:t>Число снова можно назвать в рублях. Крупная ошибка всё равно вошла через квадрат, ещё до корня.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34840"/>
            <a:ext cx="11155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02044"/>
                </a:solidFill>
                <a:latin typeface="Arial"/>
              </a:rPr>
              <a:t>RMSE — не средняя ошибка. Среднюю ошибку в тех же единицах даёт MAE.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MAE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Модуль отвечает в тех же единицах, что и ответ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20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09928"/>
            <a:ext cx="7315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74B94"/>
                </a:solidFill>
                <a:latin typeface="Arial"/>
              </a:rPr>
              <a:t>средняя абсолютная ошибка, mean absolute 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39112"/>
            <a:ext cx="6858000" cy="566928"/>
          </a:xfrm>
          <a:prstGeom prst="rect">
            <a:avLst/>
          </a:prstGeom>
          <a:solidFill>
            <a:srgbClr val="FFF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39112"/>
            <a:ext cx="73152" cy="56692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112264"/>
            <a:ext cx="6528816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02044"/>
                </a:solidFill>
                <a:latin typeface="Arial"/>
              </a:rPr>
              <a:t>MAE  =  (1/m) Σ |y − ŷ|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17520"/>
            <a:ext cx="6858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33475F"/>
                </a:solidFill>
                <a:latin typeface="Arial"/>
              </a:rPr>
              <a:t>Ошибки 1, 2 и 3 дают MAE = 2. Лучшая константа — медиана, не среднее.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389120"/>
            <a:ext cx="6858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2044"/>
                </a:solidFill>
                <a:latin typeface="Arial"/>
              </a:rPr>
              <a:t>На трёх точках: у прямой около 0,22, у среднего около 0,44. МНК этого выигрыша не гарантирует.</a:t>
            </a:r>
          </a:p>
        </p:txBody>
      </p:sp>
      <p:pic>
        <p:nvPicPr>
          <p:cNvPr id="12" name="Picture 11" descr="loss-mae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920240"/>
            <a:ext cx="4114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ОДИН И ТОТ ЖЕ ХВОСТ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Квадрат тянет прямую к далёкой точке. Модуль почти не тянет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21 / 34</a:t>
            </a:r>
          </a:p>
        </p:txBody>
      </p:sp>
      <p:pic>
        <p:nvPicPr>
          <p:cNvPr id="6" name="Picture 5" descr="outlier-lines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783080"/>
            <a:ext cx="96012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R²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Ноль значит «не лучше среднего», не «ноль точности»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22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09928"/>
            <a:ext cx="7315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74B94"/>
                </a:solidFill>
                <a:latin typeface="Arial"/>
              </a:rPr>
              <a:t>коэффициент детерминации, доля разброса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39112"/>
            <a:ext cx="6766560" cy="566928"/>
          </a:xfrm>
          <a:prstGeom prst="rect">
            <a:avLst/>
          </a:prstGeom>
          <a:solidFill>
            <a:srgbClr val="FFF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39112"/>
            <a:ext cx="73152" cy="56692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112264"/>
            <a:ext cx="6437376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02044"/>
                </a:solidFill>
                <a:latin typeface="Arial"/>
              </a:rPr>
              <a:t>R²  =  1 −  (сумма квадратов промахов) / (разброс ответов)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63240"/>
            <a:ext cx="667512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33475F"/>
                </a:solidFill>
                <a:latin typeface="Arial"/>
              </a:rPr>
              <a:t>Левый столбик — разброс ответов вокруг своего среднего. Правый — то, что прямая не угадала. Правый ниже, поэтому доля больше нуля.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63440"/>
            <a:ext cx="6675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2044"/>
                </a:solidFill>
                <a:latin typeface="Arial"/>
              </a:rPr>
              <a:t>На новых данных R² бывает отрицательным. В программе берут среднее того ответа, который передали.</a:t>
            </a:r>
          </a:p>
        </p:txBody>
      </p:sp>
      <p:pic>
        <p:nvPicPr>
          <p:cNvPr id="12" name="Picture 11" descr="r2-bars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965960"/>
            <a:ext cx="42976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ADJUSTED R²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Лишний столбец на учебных строках больше не бесплатен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23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10972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74B94"/>
                </a:solidFill>
                <a:latin typeface="Arial"/>
              </a:rPr>
              <a:t>скорректированный коэффициент детерминации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11155680" cy="566928"/>
          </a:xfrm>
          <a:prstGeom prst="rect">
            <a:avLst/>
          </a:prstGeom>
          <a:solidFill>
            <a:srgbClr val="FFF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94560"/>
            <a:ext cx="73152" cy="56692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67712"/>
            <a:ext cx="10826496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R²adj  =  1 − (1 − R²) · (n − 1) / (n − 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29000"/>
            <a:ext cx="111556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33475F"/>
                </a:solidFill>
                <a:latin typeface="Arial"/>
              </a:rPr>
              <a:t>n — число строк, p — число столбцов вместе со сдвигом. Штраф уменьшает долю за каждый новый столбец.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17720"/>
            <a:ext cx="11155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02044"/>
                </a:solidFill>
                <a:latin typeface="Arial"/>
              </a:rPr>
              <a:t>Это поправка на той же выборке, не замена проверки на других строках.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MAPE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02044"/>
                </a:solidFill>
                <a:latin typeface="Arial"/>
              </a:rPr>
              <a:t>Маленький ответ весит больше большого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24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74B94"/>
                </a:solidFill>
                <a:latin typeface="Arial"/>
              </a:rPr>
              <a:t>средняя абсолютная процентная ошибка, mean absolute percentage 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55680" cy="566928"/>
          </a:xfrm>
          <a:prstGeom prst="rect">
            <a:avLst/>
          </a:prstGeom>
          <a:solidFill>
            <a:srgbClr val="FFF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73152" cy="56692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856231"/>
            <a:ext cx="10826496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MAPE  =  (1/m) Σ  |y − ŷ| / |y|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17520"/>
            <a:ext cx="111556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33475F"/>
                </a:solidFill>
                <a:latin typeface="Arial"/>
              </a:rPr>
              <a:t>Промах делят на сам ответ. При ответе 0 делить не на что. На трёх точках: около 0,14 у прямой и около 0,33 у среднего.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97680"/>
            <a:ext cx="11155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02044"/>
                </a:solidFill>
                <a:latin typeface="Arial"/>
              </a:rPr>
              <a:t>На слайде это доля, не проценты.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SMAPE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Слово «симметричная» описывает формулу, не оптимум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25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10972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74B94"/>
                </a:solidFill>
                <a:latin typeface="Arial"/>
              </a:rPr>
              <a:t>симметричная средняя абсолютная процентная ошибка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11155680" cy="566928"/>
          </a:xfrm>
          <a:prstGeom prst="rect">
            <a:avLst/>
          </a:prstGeom>
          <a:solidFill>
            <a:srgbClr val="FFF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94560"/>
            <a:ext cx="73152" cy="56692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67712"/>
            <a:ext cx="10826496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02044"/>
                </a:solidFill>
                <a:latin typeface="Arial"/>
              </a:rPr>
              <a:t>sMAPE  =  (1/m) Σ   2 |y − ŷ|  /  (|y| + |ŷ|)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29000"/>
            <a:ext cx="111556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33475F"/>
                </a:solidFill>
                <a:latin typeface="Arial"/>
              </a:rPr>
              <a:t>Множитель 2 — договорённость. Встречается запись без него. В отчёте надо назвать, какая именно.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17720"/>
            <a:ext cx="111556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02044"/>
                </a:solidFill>
                <a:latin typeface="Arial"/>
              </a:rPr>
              <a:t>При том же модуле ошибки больший прогноз раздувает знаменатель и уменьшает штраф.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RMSLE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При том же модуле занижение весит больше завышения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26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10972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74B94"/>
                </a:solidFill>
                <a:latin typeface="Arial"/>
              </a:rPr>
              <a:t>корень из средней квадратичной логарифмической ошибки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11155680" cy="566928"/>
          </a:xfrm>
          <a:prstGeom prst="rect">
            <a:avLst/>
          </a:prstGeom>
          <a:solidFill>
            <a:srgbClr val="FFF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94560"/>
            <a:ext cx="73152" cy="56692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67712"/>
            <a:ext cx="10826496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02044"/>
                </a:solidFill>
                <a:latin typeface="Arial"/>
              </a:rPr>
              <a:t>RMSLE  =  √ среднего  ( log(1+y) − log(1+ŷ) )²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29000"/>
            <a:ext cx="111556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33475F"/>
                </a:solidFill>
                <a:latin typeface="Arial"/>
              </a:rPr>
              <a:t>Метрика сравнивает порядки, не рубли. Ответ 100: прогноз 50 дальше в логарифме, чем прогноз 150.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63440"/>
            <a:ext cx="11155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02044"/>
                </a:solidFill>
                <a:latin typeface="Arial"/>
              </a:rPr>
              <a:t>Отрицательный ответ в логарифм не подставить. Нулевые цены живут за счёт единицы под логарифмом.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PINBALL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Квантиль τ штрафует недобор и перебор по-разному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27 / 34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6858000" cy="859536"/>
          </a:xfrm>
          <a:prstGeom prst="rect">
            <a:avLst/>
          </a:prstGeom>
          <a:solidFill>
            <a:srgbClr val="FFF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73152" cy="859536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56232"/>
            <a:ext cx="6528816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2044"/>
                </a:solidFill>
                <a:latin typeface="Arial"/>
              </a:rPr>
              <a:t>если промах ≥ 0:  штраф = τ · промах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102044"/>
                </a:solidFill>
                <a:latin typeface="Arial"/>
              </a:rPr>
              <a:t>если промах &lt; 0:  штраф = (τ − 1) · промах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6858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33475F"/>
                </a:solidFill>
                <a:latin typeface="Arial"/>
              </a:rPr>
              <a:t>При τ = 1/2 это половина модуля, лучшая константа — медиана. При τ &gt; 1/2 недобор дороже.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63440"/>
            <a:ext cx="6858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2044"/>
                </a:solidFill>
                <a:latin typeface="Arial"/>
              </a:rPr>
              <a:t>Оптимум по константе — квантиль уровня τ, не среднее.</a:t>
            </a:r>
          </a:p>
        </p:txBody>
      </p:sp>
      <p:pic>
        <p:nvPicPr>
          <p:cNvPr id="11" name="Picture 10" descr="loss-pinball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783080"/>
            <a:ext cx="4114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ХЬЮБЕР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Квадрат рядом с нулём, линейный рост дальше порога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28 / 34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6858000" cy="859536"/>
          </a:xfrm>
          <a:prstGeom prst="rect">
            <a:avLst/>
          </a:prstGeom>
          <a:solidFill>
            <a:srgbClr val="FFF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73152" cy="859536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56232"/>
            <a:ext cx="6528816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02044"/>
                </a:solidFill>
                <a:latin typeface="Arial"/>
              </a:rPr>
              <a:t>до порога δ:  половина квадрата промаха</a:t>
            </a:r>
          </a:p>
          <a:p>
            <a:pPr algn="l">
              <a:spcAft>
                <a:spcPts val="200"/>
              </a:spcAft>
            </a:pPr>
            <a:r>
              <a:rPr sz="2000" b="1">
                <a:solidFill>
                  <a:srgbClr val="102044"/>
                </a:solidFill>
                <a:latin typeface="Arial"/>
              </a:rPr>
              <a:t>дальше порога:  растёт как модуль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6858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33475F"/>
                </a:solidFill>
                <a:latin typeface="Arial"/>
              </a:rPr>
              <a:t>В нуле функция гладкая, в отличие от модуля. Хвост не получает квадратичного голоса.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6858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2044"/>
                </a:solidFill>
                <a:latin typeface="Arial"/>
              </a:rPr>
              <a:t>Это способ учить, не число для отчёта. Порог выбирают на отложенных строках.</a:t>
            </a:r>
          </a:p>
        </p:txBody>
      </p:sp>
      <p:pic>
        <p:nvPicPr>
          <p:cNvPr id="11" name="Picture 10" descr="loss-huber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783080"/>
            <a:ext cx="4114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ГДЕ ИМЕЮТ ПРАВО ЖИТЬ ВЕСА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Уравнение решают на train. Судят на других строках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29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Train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9" y="1920240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столбцы, веса, среднее константы, среднее и разброс для масштаба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42032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9" y="2670048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какой набор столбцов, какая метрика отчёта, какой порог у Хьюбера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91840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19856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99" y="3419856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один отчёт уже выбранного решения. Правка после него отменяет отчёт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41648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532120"/>
            <a:ext cx="11155680" cy="640080"/>
          </a:xfrm>
          <a:prstGeom prst="rect">
            <a:avLst/>
          </a:prstGeom>
          <a:solidFill>
            <a:srgbClr val="FFF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5532120"/>
            <a:ext cx="73152" cy="640080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623559"/>
            <a:ext cx="10789919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2044"/>
                </a:solidFill>
                <a:latin typeface="Arial"/>
              </a:rPr>
              <a:t>Среднее, масштаб и словарь районов считают только на train.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КАК РЕЗАТЬ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Разрезов четыре. Честный тот, который повторяет будущий прогноз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30 / 34</a:t>
            </a:r>
          </a:p>
        </p:txBody>
      </p:sp>
      <p:pic>
        <p:nvPicPr>
          <p:cNvPr id="6" name="Picture 5" descr="splits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1097280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ГДЕ РАЗРЕЗ ЛОМАЕТ РЕГРЕССИЮ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Уравнение видит строки, которых в бою не будет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31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7452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Без перемешивания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9" y="1874520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таблица отсортирована по цене, и test оказывается другим режимом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96312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24328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Время перемешали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9" y="2624328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завтрашняя цена стоит в train и учит вес для вчера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46120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374136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Группу разрезали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99" y="3374136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один дом и в train, и в test. Прямая запоминает дом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95928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123944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Словарь до разреза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599" y="4123944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столбцы районов собраны по всей таблице, включая районы только из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745736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ЧТО ПОРТИТ УРАВНЕНИЕ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02044"/>
                </a:solidFill>
                <a:latin typeface="Arial"/>
              </a:rPr>
              <a:t>В матрицу попало то, чего не будет в момент прогноза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32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Прокси ответа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9" y="2011680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цена за метр, умноженная на площадь, восстанавливает цену. Веса будут красивыми и пустыми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33472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61488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Статистика до разреза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9" y="2761488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среднее пропуска, масштаб и словарь районов — только с train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83280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511296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Одна сущность дважды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99" y="3511296"/>
            <a:ext cx="800099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сделки одного дома по обе стороны: модель запоминает дом, не зависимость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33087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ПРОВЕРКА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02044"/>
                </a:solidFill>
                <a:latin typeface="Arial"/>
              </a:rPr>
              <a:t>Какие утверждения верны?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33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54480"/>
            <a:ext cx="1010411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Веса ищем шагами. На каждом шаге ошибка меньше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76272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04288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04288"/>
            <a:ext cx="1010411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Веса стоят там, где сумма квадратов промахов меньше всего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26080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54096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68E8"/>
                </a:solidFill>
                <a:latin typeface="Arial"/>
              </a:rPr>
              <a:t>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54096"/>
            <a:ext cx="10104119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02044"/>
                </a:solidFill>
                <a:latin typeface="Arial"/>
              </a:rPr>
              <a:t>Район кодируют числами 1, 2,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75887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66928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168E8"/>
                </a:solidFill>
                <a:latin typeface="Arial"/>
              </a:rPr>
              <a:t>Ответ после паузы: верно А и Б. Коды 1, 2, 3 — не one-hot.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420624" cy="64008"/>
          </a:xfrm>
          <a:prstGeom prst="rect">
            <a:avLst/>
          </a:prstGeom>
          <a:solidFill>
            <a:srgbClr val="E0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168E8"/>
                </a:solidFill>
                <a:latin typeface="Arial"/>
              </a:rPr>
              <a:t>ИТОГ ЛЕКЦИИ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02044"/>
                </a:solidFill>
                <a:latin typeface="Arial"/>
              </a:rPr>
              <a:t>Что прошли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33475F"/>
                </a:solidFill>
                <a:latin typeface="Arial"/>
              </a:rPr>
              <a:t>34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102044"/>
                </a:solidFill>
                <a:latin typeface="Arial"/>
              </a:rPr>
              <a:t>Прогноз — сдвиг плюс веса признаков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29967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102044"/>
                </a:solidFill>
                <a:latin typeface="Arial"/>
              </a:rPr>
              <a:t>Веса ищем шагами, формула записывает минимум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32887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88336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102044"/>
                </a:solidFill>
                <a:latin typeface="Arial"/>
              </a:rPr>
              <a:t>Район превращают в столбцы, один уровень выбрасывают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91256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346704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102044"/>
                </a:solidFill>
                <a:latin typeface="Arial"/>
              </a:rPr>
              <a:t>Квадрат, модуль и доля разброса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49624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005072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102044"/>
                </a:solidFill>
                <a:latin typeface="Arial"/>
              </a:rPr>
              <a:t>Учат на train, проверяют на других строках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507992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66344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102044"/>
                </a:solidFill>
                <a:latin typeface="Arial"/>
              </a:rPr>
              <a:t>1 ноября смотрим задачу. Если ответ — класс, модель со следующей пары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166359"/>
            <a:ext cx="11155680" cy="13716"/>
          </a:xfrm>
          <a:prstGeom prst="rect">
            <a:avLst/>
          </a:prstGeom>
          <a:solidFill>
            <a:srgbClr val="D5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Пара 2. Линейная регрессия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